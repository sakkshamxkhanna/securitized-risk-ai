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F1E3D"/>
                </a:solidFill>
                <a:latin typeface="Cambria"/>
              </a:defRPr>
            </a:pPr>
            <a:r>
              <a:rPr sz="1400" b="0" i="0" u="none" strike="noStrike">
                <a:solidFill>
                  <a:srgbClr val="0F1E3D"/>
                </a:solidFill>
                <a:latin typeface="Cambria"/>
              </a:rPr>
              <a:t>UPB by FICO band ($mm)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UPB</c:v>
                </c:pt>
              </c:strCache>
            </c:strRef>
          </c:tx>
          <c:spPr>
            <a:solidFill>
              <a:srgbClr val="1D3461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333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&lt;620</c:v>
                  </c:pt>
                  <c:pt idx="1">
                    <c:v>620-659</c:v>
                  </c:pt>
                  <c:pt idx="2">
                    <c:v>660-699</c:v>
                  </c:pt>
                  <c:pt idx="3">
                    <c:v>700-739</c:v>
                  </c:pt>
                  <c:pt idx="4">
                    <c:v>740-779</c:v>
                  </c:pt>
                  <c:pt idx="5">
                    <c:v>780+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19.7</c:v>
                </c:pt>
                <c:pt idx="1">
                  <c:v>54.2</c:v>
                </c:pt>
                <c:pt idx="2">
                  <c:v>110.2</c:v>
                </c:pt>
                <c:pt idx="3">
                  <c:v>138.4</c:v>
                </c:pt>
                <c:pt idx="4">
                  <c:v>107.8</c:v>
                </c:pt>
                <c:pt idx="5">
                  <c:v>58.5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33333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4444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E3E3E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66666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F1E3D"/>
                </a:solidFill>
                <a:latin typeface="Cambria"/>
              </a:defRPr>
            </a:pPr>
            <a:r>
              <a:rPr sz="1400" b="0" i="0" u="none" strike="noStrike">
                <a:solidFill>
                  <a:srgbClr val="0F1E3D"/>
                </a:solidFill>
                <a:latin typeface="Cambria"/>
              </a:rPr>
              <a:t>Top state concentrations (% of UPB)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of pool</c:v>
                </c:pt>
              </c:strCache>
            </c:strRef>
          </c:tx>
          <c:spPr>
            <a:solidFill>
              <a:srgbClr val="D98324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333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NY</c:v>
                  </c:pt>
                  <c:pt idx="1">
                    <c:v>FL</c:v>
                  </c:pt>
                  <c:pt idx="2">
                    <c:v>WA</c:v>
                  </c:pt>
                  <c:pt idx="3">
                    <c:v>GA</c:v>
                  </c:pt>
                  <c:pt idx="4">
                    <c:v>TX</c:v>
                  </c:pt>
                  <c:pt idx="5">
                    <c:v>OH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11.38</c:v>
                </c:pt>
                <c:pt idx="1">
                  <c:v>10.72</c:v>
                </c:pt>
                <c:pt idx="2">
                  <c:v>10.69</c:v>
                </c:pt>
                <c:pt idx="3">
                  <c:v>10.42</c:v>
                </c:pt>
                <c:pt idx="4">
                  <c:v>10.26</c:v>
                </c:pt>
                <c:pt idx="5">
                  <c:v>9.77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33333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4444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"/>
          <c:min val="0"/>
        </c:scaling>
        <c:delete val="0"/>
        <c:axPos val="b"/>
        <c:majorGridlines>
          <c:spPr>
            <a:ln w="12700" cap="flat">
              <a:solidFill>
                <a:srgbClr val="E3E3E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66666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F1E3D"/>
                </a:solidFill>
                <a:latin typeface="Cambria"/>
              </a:defRPr>
            </a:pPr>
            <a:r>
              <a:rPr sz="1400" b="0" i="0" u="none" strike="noStrike">
                <a:solidFill>
                  <a:srgbClr val="0F1E3D"/>
                </a:solidFill>
                <a:latin typeface="Cambria"/>
              </a:rPr>
              <a:t>Cumulative collateral loss by scenario ($mm)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Cumulative loss</c:v>
                </c:pt>
              </c:strCache>
            </c:strRef>
          </c:tx>
          <c:spPr>
            <a:solidFill>
              <a:srgbClr val="1D3461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333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S1</c:v>
                  </c:pt>
                  <c:pt idx="1">
                    <c:v>S2</c:v>
                  </c:pt>
                  <c:pt idx="2">
                    <c:v>S3</c:v>
                  </c:pt>
                  <c:pt idx="3">
                    <c:v>S4</c:v>
                  </c:pt>
                  <c:pt idx="4">
                    <c:v>S5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12.17</c:v>
                </c:pt>
                <c:pt idx="1">
                  <c:v>5.83</c:v>
                </c:pt>
                <c:pt idx="2">
                  <c:v>6.25</c:v>
                </c:pt>
                <c:pt idx="3">
                  <c:v>6.54</c:v>
                </c:pt>
                <c:pt idx="4">
                  <c:v>5.99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33333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4444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E3E3E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66666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deck is generated directly from the pipeline's output artifacts, so it always reflects the latest surveillance run. All data is synthetic.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Pool snapshot. Note the geographic concentration point — it sets up the GNN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Stratification tapes are computed by live formulas over the loan tape in the Excel pack.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loss-scaling failure is the most important thing on this slide. Be ready to explain why per-head target standardisation fixes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structural tail risk that flat models systematically understate.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Loss allocation seniority is asserted by the test suite, not just asserted verbally.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Escalation is a conditional edge in the LangGraph state machine — it fires automatically when projected loss breaches the 2% desk threshold.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Stating limitations plainly is the point — in a risk function, knowing what your model does not cover matters as much as what it does.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96596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Monthly Surveillance Report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22960" y="27889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C3D3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Synthetic RMBS Pool 2026-1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" y="342900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3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Model-driven collateral surveillance: stratification, cashflow projection, correlated risk and generated scenario stress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53949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2026-08-13  ·  synthetic data for demonstration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Pool Snapshot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50976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Loan-level collateral characteristics at the surveillance date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E8EEF7"/>
          </a:solidFill>
          <a:ln w="12700">
            <a:solidFill>
              <a:srgbClr val="C3D3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874520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$488.9mm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2551176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UPB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83280" y="155448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E8EEF7"/>
          </a:solidFill>
          <a:ln w="12700">
            <a:solidFill>
              <a:srgbClr val="C3D3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0" y="1874520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2,000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383280" y="2551176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17920" y="155448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E8EEF7"/>
          </a:solidFill>
          <a:ln w="12700">
            <a:solidFill>
              <a:srgbClr val="C3D3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1874520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715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217920" y="2551176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 FICO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052560" y="155448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E8EEF7"/>
          </a:solidFill>
          <a:ln w="12700">
            <a:solidFill>
              <a:srgbClr val="C3D3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52560" y="1874520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74.0%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9052560" y="2551176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 LTV</a:t>
            </a:r>
            <a:endParaRPr lang="en-US" sz="11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794760"/>
          <a:ext cx="548640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56032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D34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 coupon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6.383%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D34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 DTI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35.9%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D34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 seasoning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24.0 months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D34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Largest state concentration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NY — 11.4% of UPB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Text 14"/>
          <p:cNvSpPr/>
          <p:nvPr/>
        </p:nvSpPr>
        <p:spPr>
          <a:xfrm>
            <a:off x="6492240" y="3794760"/>
            <a:ext cx="5120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concentration is the dominant driver of tail loss in the stressed scenarios — regional employment and house-price shocks hit whole cohorts at once, not individual loans.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Collateral Stratification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50976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Balance-weighted cuts by credit quality and geography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08760"/>
          <a:ext cx="5486400" cy="4709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309360" y="1508760"/>
          <a:ext cx="5303520" cy="4709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Model-Projected Performance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50976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Prepayment and default speeds from a temporal-attention Transformer, over a 36-month horizon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E8EEF7"/>
          </a:solidFill>
          <a:ln w="12700">
            <a:solidFill>
              <a:srgbClr val="C3D3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920240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9.85%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2596896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CPR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251960" y="160020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E8EEF7"/>
          </a:solidFill>
          <a:ln w="12700">
            <a:solidFill>
              <a:srgbClr val="C3D3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51960" y="1920240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983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1.43%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251960" y="2596896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CDR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955280" y="160020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E8EEF7"/>
          </a:solidFill>
          <a:ln w="12700">
            <a:solidFill>
              <a:srgbClr val="C3D3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0" y="1920240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$6.2mm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7955280" y="2596896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loss (base)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37033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Holdout validation</a:t>
            </a:r>
            <a:endParaRPr lang="en-US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160520"/>
          <a:ext cx="50292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463040"/>
                <a:gridCol w="14630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4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4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CDR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4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0.8642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0.9746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0.00453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0.00037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Predicted sd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0.00369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Realised sd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0.00374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12"/>
          <p:cNvSpPr/>
          <p:nvPr/>
        </p:nvSpPr>
        <p:spPr>
          <a:xfrm>
            <a:off x="6035040" y="370332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sd comparison is reported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6035040" y="4160520"/>
            <a:ext cx="5577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CPR variance is roughly 100x CDR variance. Under a plain MSE the model minimises loss by predicting a constant default rate — scoring well while being economically useless.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Standardising targets per-head fixed it: holdout CDR R² moved from 0.10 to 0.97.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sd is now reported against realised sd on every run, so a future collapse is visible immediately.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Correlated Default Risk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50976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graph neural network over originator x state cohorts, capturing risk that loan-level models miss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67665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22960"/>
                <a:gridCol w="1371600"/>
                <a:gridCol w="1280160"/>
                <a:gridCol w="91440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Originator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4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4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4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multiplier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4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Adj. CDR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46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Meridian Home Loans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$10.5mm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1.63x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1.74%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Meridian Home Loans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$11.7mm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1.63x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1.56%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Meridian Home Loans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$11.7mm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1.63x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1.48%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Meridian Home Loans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$13.8mm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1.63x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1.56%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Meridian Home Loans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$11.2mm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1.62x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1.62%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480560"/>
            <a:ext cx="6766560" cy="1600200"/>
          </a:xfrm>
          <a:prstGeom prst="roundRect">
            <a:avLst>
              <a:gd name="adj" fmla="val 3429"/>
            </a:avLst>
          </a:prstGeom>
          <a:solidFill>
            <a:srgbClr val="FBF0E4"/>
          </a:solidFill>
          <a:ln w="12700">
            <a:solidFill>
              <a:srgbClr val="D9832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7240" y="4681728"/>
            <a:ext cx="6309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44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of the 5 highest-risk cohorts share a single originator — Meridian Home Loans. A loan-level model scores these as independent exposures across 5 states; the graph identifies them as one concentrated underwriting risk.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680960" y="1600200"/>
            <a:ext cx="3931920" cy="4572000"/>
          </a:xfrm>
          <a:prstGeom prst="roundRect">
            <a:avLst>
              <a:gd name="adj" fmla="val 1860"/>
            </a:avLst>
          </a:prstGeom>
          <a:solidFill>
            <a:srgbClr val="E8EEF7"/>
          </a:solidFill>
          <a:ln w="12700">
            <a:solidFill>
              <a:srgbClr val="C3D3E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955280" y="18745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 graph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955280" y="2377440"/>
            <a:ext cx="33832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per-loan hazard model treats every loan as independent.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Loans sharing an originator inherit its underwriting standards; loans sharing a state face the same employment and house-price shocks.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GCN propagates deterioration across connected cohorts, so a signal on one originator lifts its other state cohorts rather than being treated as isolated.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multiplier applied: 1.371x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Tranche Exposure, Expected Loss and RWA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50976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Sequential-pay structure — losses absorbed subordinate-first, principal paid senior-first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6424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005840"/>
                <a:gridCol w="1463040"/>
                <a:gridCol w="1005840"/>
                <a:gridCol w="822960"/>
                <a:gridCol w="1737360"/>
                <a:gridCol w="822960"/>
                <a:gridCol w="210312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Tranche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4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4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4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4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LGD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4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loss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4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4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RWA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46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(Senior)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AAA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$229.0mm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$172,316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$45.8mm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 (Subordinate)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$32.9mm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$413,245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2.50x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$82.4mm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 (Mezz)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BBB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$68.4mm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$309,072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$68.4mm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977640"/>
            <a:ext cx="2834640" cy="1691640"/>
          </a:xfrm>
          <a:prstGeom prst="roundRect">
            <a:avLst>
              <a:gd name="adj" fmla="val 4324"/>
            </a:avLst>
          </a:prstGeom>
          <a:solidFill>
            <a:srgbClr val="E8EEF7"/>
          </a:solidFill>
          <a:ln w="12700">
            <a:solidFill>
              <a:srgbClr val="C3D3E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4224528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$196.6mm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548640" y="4901184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RWA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3657600" y="3977640"/>
            <a:ext cx="2834640" cy="1691640"/>
          </a:xfrm>
          <a:prstGeom prst="roundRect">
            <a:avLst>
              <a:gd name="adj" fmla="val 4324"/>
            </a:avLst>
          </a:prstGeom>
          <a:solidFill>
            <a:srgbClr val="E8EEF7"/>
          </a:solidFill>
          <a:ln w="12700">
            <a:solidFill>
              <a:srgbClr val="C3D3E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0" y="4224528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983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$894,633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3657600" y="4901184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expected loss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6858000" y="4023360"/>
            <a:ext cx="4754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subordinate class absorbs realised losses in full before any mezzanine write-down occurs.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principal is not impaired in any generated scenario.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RWA is a simplified rating-band proxy, not a full SEC-SA / SEC-IRBA implementation.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Scenario Stress Testing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50976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 sampled from the latent space of a VAE trained on macro regime paths — generated, not hand-specified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45920"/>
          <a:ext cx="5669280" cy="4526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1828800"/>
          <a:ext cx="512064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920240"/>
                <a:gridCol w="1097280"/>
                <a:gridCol w="10972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4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4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 % UPB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4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4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 stress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2.49%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9C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ESCALATE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 rally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1.19%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6E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within tolerance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Base-like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1.28%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6E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within tolerance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Base-like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1.34%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6E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within tolerance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 rally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1.23%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6E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within tolerance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D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6492240" y="4617720"/>
            <a:ext cx="5120640" cy="1554480"/>
          </a:xfrm>
          <a:prstGeom prst="roundRect">
            <a:avLst>
              <a:gd name="adj" fmla="val 3529"/>
            </a:avLst>
          </a:prstGeom>
          <a:solidFill>
            <a:srgbClr val="F7E6E6"/>
          </a:solidFill>
          <a:ln w="12700">
            <a:solidFill>
              <a:srgbClr val="9C2B2B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6693408" y="4800600"/>
            <a:ext cx="47183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9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ESCALATION: scenario S1 (Credit stress (rising unemployment, HPI decline)) projects cumulative loss of 2.49% of UPB, above the 2.0% desk threshold.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 and Limitations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280160" cy="685800"/>
          </a:xfrm>
          <a:prstGeom prst="roundRect">
            <a:avLst>
              <a:gd name="adj" fmla="val 8000"/>
            </a:avLst>
          </a:prstGeom>
          <a:solidFill>
            <a:srgbClr val="1D3461"/>
          </a:solidFill>
          <a:ln w="12700">
            <a:solidFill>
              <a:srgbClr val="3C5A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46304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1947672" y="1463040"/>
            <a:ext cx="1280160" cy="685800"/>
          </a:xfrm>
          <a:prstGeom prst="roundRect">
            <a:avLst>
              <a:gd name="adj" fmla="val 8000"/>
            </a:avLst>
          </a:prstGeom>
          <a:solidFill>
            <a:srgbClr val="1D3461"/>
          </a:solidFill>
          <a:ln w="12700">
            <a:solidFill>
              <a:srgbClr val="3C5A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47672" y="146304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Stratify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46704" y="1463040"/>
            <a:ext cx="1280160" cy="685800"/>
          </a:xfrm>
          <a:prstGeom prst="roundRect">
            <a:avLst>
              <a:gd name="adj" fmla="val 8000"/>
            </a:avLst>
          </a:prstGeom>
          <a:solidFill>
            <a:srgbClr val="1D3461"/>
          </a:solidFill>
          <a:ln w="12700">
            <a:solidFill>
              <a:srgbClr val="3C5A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46704" y="146304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45736" y="1463040"/>
            <a:ext cx="1280160" cy="685800"/>
          </a:xfrm>
          <a:prstGeom prst="roundRect">
            <a:avLst>
              <a:gd name="adj" fmla="val 8000"/>
            </a:avLst>
          </a:prstGeom>
          <a:solidFill>
            <a:srgbClr val="1D3461"/>
          </a:solidFill>
          <a:ln w="12700">
            <a:solidFill>
              <a:srgbClr val="3C5A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45736" y="146304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graph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44768" y="1463040"/>
            <a:ext cx="1280160" cy="685800"/>
          </a:xfrm>
          <a:prstGeom prst="roundRect">
            <a:avLst>
              <a:gd name="adj" fmla="val 8000"/>
            </a:avLst>
          </a:prstGeom>
          <a:solidFill>
            <a:srgbClr val="1D3461"/>
          </a:solidFill>
          <a:ln w="12700">
            <a:solidFill>
              <a:srgbClr val="3C5A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44768" y="146304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Waterfall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543800" y="1463040"/>
            <a:ext cx="1280160" cy="685800"/>
          </a:xfrm>
          <a:prstGeom prst="roundRect">
            <a:avLst>
              <a:gd name="adj" fmla="val 8000"/>
            </a:avLst>
          </a:prstGeom>
          <a:solidFill>
            <a:srgbClr val="1D3461"/>
          </a:solidFill>
          <a:ln w="12700">
            <a:solidFill>
              <a:srgbClr val="3C5A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43800" y="146304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Exposure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942832" y="1463040"/>
            <a:ext cx="1280160" cy="685800"/>
          </a:xfrm>
          <a:prstGeom prst="roundRect">
            <a:avLst>
              <a:gd name="adj" fmla="val 8000"/>
            </a:avLst>
          </a:prstGeom>
          <a:solidFill>
            <a:srgbClr val="1D3461"/>
          </a:solidFill>
          <a:ln w="12700">
            <a:solidFill>
              <a:srgbClr val="3C5A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42832" y="146304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0341864" y="1463040"/>
            <a:ext cx="1280160" cy="685800"/>
          </a:xfrm>
          <a:prstGeom prst="roundRect">
            <a:avLst>
              <a:gd name="adj" fmla="val 8000"/>
            </a:avLst>
          </a:prstGeom>
          <a:solidFill>
            <a:srgbClr val="1D3461"/>
          </a:solidFill>
          <a:ln w="12700">
            <a:solidFill>
              <a:srgbClr val="3C5A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341864" y="146304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48640" y="22860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Orchestrated as a LangGraph state machine · Redis stage caching · deployed on Kubernetes as a monthly CronJob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30632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models do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548640" y="3566160"/>
            <a:ext cx="53035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3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— CPR/CDR forecasting from macro paths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3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GNN — correlated default across originator x state cohorts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3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VAE — generates macro scenarios for stress testing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3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LoRA-adapted LM — drafts commentary phrasing only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09360" y="30632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983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and limitations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6309360" y="3566160"/>
            <a:ext cx="53035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3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is synthetic — reported R² measures recovery of a known generating process, not real-world accuracy.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3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RWA is a simplified rating-band proxy, not SEC-SA / SEC-IRBA.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3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LoRA corpus is small; it is a style layer, and never produces a figure.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3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in this deck is computed deterministically by the pipeline.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Securitized Products Surveillance</dc:title>
  <dc:subject>PptxGenJS Presentation</dc:subject>
  <dc:creator>Saksham Khanna</dc:creator>
  <cp:lastModifiedBy>Saksham Khanna</cp:lastModifiedBy>
  <cp:revision>1</cp:revision>
  <dcterms:created xsi:type="dcterms:W3CDTF">2026-08-13T10:29:14Z</dcterms:created>
  <dcterms:modified xsi:type="dcterms:W3CDTF">2026-08-13T10:29:14Z</dcterms:modified>
</cp:coreProperties>
</file>